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4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image" Target="../media/image-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400800" cy="6400800"/>
          </a:xfrm>
          <a:prstGeom prst="ellipse">
            <a:avLst/>
          </a:prstGeom>
          <a:solidFill>
            <a:srgbClr val="0F62F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3931920"/>
            <a:ext cx="5486400" cy="5486400"/>
          </a:xfrm>
          <a:prstGeom prst="ellipse">
            <a:avLst/>
          </a:prstGeom>
          <a:solidFill>
            <a:srgbClr val="CADCFC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50292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263B7A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502920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CareerSetu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Internship Recommendation Engine for the PM Internship Scheme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263B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105656"/>
            <a:ext cx="512064" cy="512064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11" name="Image 0" descr="/home/claude/deck2/asset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4228551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40965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463040" y="43068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BobTheBuilders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0" y="397764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263B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4105656"/>
            <a:ext cx="512064" cy="512064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16" name="Image 1" descr="/home/claude/deck2/assets/fl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575" y="4228551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7760" y="40965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937760" y="43068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20" name="Image 2" descr="/home/claude/deck2/assets/gradc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538947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0040" y="586130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 learners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423160" y="5257800"/>
            <a:ext cx="548640" cy="548640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23" name="Image 3" descr="/home/claude/deck2/assets/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4834" y="53894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103120" y="586130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picks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5257800"/>
            <a:ext cx="548640" cy="548640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26" name="Image 4" descr="/home/claude/deck2/assets/mapp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914" y="53894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586130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to urban reach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989320" y="5257800"/>
            <a:ext cx="548640" cy="548640"/>
          </a:xfrm>
          <a:prstGeom prst="ellipse">
            <a:avLst/>
          </a:prstGeom>
          <a:solidFill>
            <a:srgbClr val="2A3A78"/>
          </a:solidFill>
          <a:ln/>
        </p:spPr>
      </p:sp>
      <p:pic>
        <p:nvPicPr>
          <p:cNvPr id="29" name="Image 5" descr="/home/claude/deck2/assets/briefcas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994" y="538947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669280" y="5861304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Right-fit internships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internships exist — the right one is hard to find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020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109728"/>
          </a:xfrm>
          <a:prstGeom prst="roundRect">
            <a:avLst/>
          </a:prstGeom>
          <a:solidFill>
            <a:srgbClr val="DA1E2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585216" cy="58521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deck2/assets/alert_0F6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2" y="2060692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problem?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8152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internships are listed on the PM Internship Scheme portal with no simple way to tell which ones actually fit a candidate's skills, interests, or goals — leading to misaligned applications and missed opportunities.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020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6552" y="1600200"/>
            <a:ext cx="3611880" cy="109728"/>
          </a:xfrm>
          <a:prstGeom prst="roundRect">
            <a:avLst/>
          </a:prstGeom>
          <a:solidFill>
            <a:srgbClr val="0F62FE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1920240"/>
            <a:ext cx="585216" cy="58521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3" name="Image 1" descr="/home/claude/deck2/assets/users_0F6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324" y="206069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it?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90872" y="308152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First-generation learners across rural areas, tribal districts, urban slums, and remote colleges — many with limited digital exposure and no prior internship experience to guide their choices.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84464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020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1600200"/>
            <a:ext cx="3611880" cy="109728"/>
          </a:xfrm>
          <a:prstGeom prst="roundRect">
            <a:avLst/>
          </a:prstGeom>
          <a:solidFill>
            <a:srgbClr val="24A148"/>
          </a:solidFill>
          <a:ln/>
        </p:spPr>
      </p:sp>
      <p:sp>
        <p:nvSpPr>
          <p:cNvPr id="18" name="Shape 14"/>
          <p:cNvSpPr/>
          <p:nvPr/>
        </p:nvSpPr>
        <p:spPr>
          <a:xfrm>
            <a:off x="8558784" y="1920240"/>
            <a:ext cx="585216" cy="58521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2" descr="/home/claude/deck2/assets/trend_0F62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36" y="2060692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58784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558784" y="3081528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match wastes a candidate's one shot at a formative career opportunity, and it wastes internship capacity meant to uplift underserved communities — the scheme's core goal.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6035040"/>
            <a:ext cx="11347704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6035040"/>
            <a:ext cx="10799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candidates need 3–5 confident, explainable matches — not another list to scroll through.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short profile to 3–5 confident matches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flow — powered by watsonx.ai — turns a candidate's profile into a short, explainable list of the internships that fit them best.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48056" y="2331720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4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87068" y="2606040"/>
            <a:ext cx="768096" cy="76809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deck2/assets/personcirclecheck_0F6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411" y="2790383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" y="35021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" y="38496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skills, sector interest, location — icon-guided intake</a:t>
            </a:r>
            <a:endParaRPr lang="en-US" sz="1000" dirty="0"/>
          </a:p>
        </p:txBody>
      </p:sp>
      <p:pic>
        <p:nvPicPr>
          <p:cNvPr id="10" name="Image 1" descr="/home/claude/deck2/assets/arrowright_0F6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636" y="31546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71416" y="2331720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0204A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10428" y="2606040"/>
            <a:ext cx="768096" cy="768096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13" name="Image 2" descr="/home/claude/deck2/asset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71" y="2790383"/>
            <a:ext cx="399410" cy="3994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54296" y="35021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 Engine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700016" y="38496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filter + watsonx.ai Granite semantic matching</a:t>
            </a:r>
            <a:endParaRPr lang="en-US" sz="1000" dirty="0"/>
          </a:p>
        </p:txBody>
      </p:sp>
      <p:pic>
        <p:nvPicPr>
          <p:cNvPr id="16" name="Image 3" descr="/home/claude/deck2/assets/arrowright_0F62F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96" y="31546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494776" y="2331720"/>
            <a:ext cx="32461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4A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9733788" y="2606040"/>
            <a:ext cx="768096" cy="76809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4" descr="/home/claude/deck2/assets/cards_0F62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8131" y="2790383"/>
            <a:ext cx="399410" cy="39941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77656" y="350215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Ranked Matches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723376" y="3849624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cards with a plain-language "why this fits" explanation</a:t>
            </a:r>
            <a:endParaRPr lang="en-US" sz="1000" dirty="0"/>
          </a:p>
        </p:txBody>
      </p:sp>
      <p:pic>
        <p:nvPicPr>
          <p:cNvPr id="22" name="Image 5" descr="/home/claude/deck2/assets/bolt_0F62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4617720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59536" y="4572000"/>
            <a:ext cx="321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under a second per candidate scored</a:t>
            </a:r>
            <a:endParaRPr lang="en-US" sz="1000" dirty="0"/>
          </a:p>
        </p:txBody>
      </p:sp>
      <p:pic>
        <p:nvPicPr>
          <p:cNvPr id="24" name="Image 6" descr="/home/claude/deck2/assets/language_0F62F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2336" y="461772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23816" y="4572000"/>
            <a:ext cx="321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explanations, not raw scores</a:t>
            </a:r>
            <a:endParaRPr lang="en-US" sz="1000" dirty="0"/>
          </a:p>
        </p:txBody>
      </p:sp>
      <p:pic>
        <p:nvPicPr>
          <p:cNvPr id="26" name="Image 7" descr="/home/claude/deck2/assets/puzzle_0F62F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616" y="4617720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388096" y="4572000"/>
            <a:ext cx="321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directly into the existing PMIS portal flow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works, technically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075688"/>
            <a:ext cx="6492240" cy="1207008"/>
          </a:xfrm>
          <a:prstGeom prst="roundRect">
            <a:avLst>
              <a:gd name="adj" fmla="val 5303"/>
            </a:avLst>
          </a:prstGeom>
          <a:solidFill>
            <a:srgbClr val="EEF2F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75688"/>
            <a:ext cx="1828800" cy="1207008"/>
          </a:xfrm>
          <a:prstGeom prst="roundRect">
            <a:avLst>
              <a:gd name="adj" fmla="val 530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75688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7184" y="22037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deck2/assets/mobile_0F6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2523" y="2309043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35224" y="269748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web app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4809744" y="22037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2/assets/language_0F6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083" y="23090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67784" y="269748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Icon-first, regional-language UI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6242304" y="22037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eck2/assets/cards_0F62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643" y="230904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00344" y="269748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results screen</a:t>
            </a:r>
            <a:endParaRPr lang="en-US" sz="840" dirty="0"/>
          </a:p>
        </p:txBody>
      </p:sp>
      <p:pic>
        <p:nvPicPr>
          <p:cNvPr id="18" name="Image 3" descr="/home/claude/deck2/assets/arrowright_0F62F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77640" y="3300984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22960" y="3538728"/>
            <a:ext cx="6492240" cy="1207008"/>
          </a:xfrm>
          <a:prstGeom prst="roundRect">
            <a:avLst>
              <a:gd name="adj" fmla="val 5303"/>
            </a:avLst>
          </a:prstGeom>
          <a:solidFill>
            <a:srgbClr val="EEF2FC"/>
          </a:solidFill>
          <a:ln/>
        </p:spPr>
      </p:sp>
      <p:sp>
        <p:nvSpPr>
          <p:cNvPr id="20" name="Shape 14"/>
          <p:cNvSpPr/>
          <p:nvPr/>
        </p:nvSpPr>
        <p:spPr>
          <a:xfrm>
            <a:off x="822960" y="3538728"/>
            <a:ext cx="1828800" cy="1207008"/>
          </a:xfrm>
          <a:prstGeom prst="roundRect">
            <a:avLst>
              <a:gd name="adj" fmla="val 5303"/>
            </a:avLst>
          </a:prstGeom>
          <a:solidFill>
            <a:srgbClr val="0F62FE"/>
          </a:solidFill>
          <a:ln/>
        </p:spPr>
      </p:sp>
      <p:sp>
        <p:nvSpPr>
          <p:cNvPr id="21" name="Text 15"/>
          <p:cNvSpPr/>
          <p:nvPr/>
        </p:nvSpPr>
        <p:spPr>
          <a:xfrm>
            <a:off x="960120" y="3538728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AI Layer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377184" y="36667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deck2/assets/gears_0F62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523" y="3772083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35224" y="416052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service</a:t>
            </a:r>
            <a:endParaRPr lang="en-US" sz="840" dirty="0"/>
          </a:p>
        </p:txBody>
      </p:sp>
      <p:sp>
        <p:nvSpPr>
          <p:cNvPr id="25" name="Shape 18"/>
          <p:cNvSpPr/>
          <p:nvPr/>
        </p:nvSpPr>
        <p:spPr>
          <a:xfrm>
            <a:off x="4809744" y="36667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/home/claude/deck2/assets/filter_0F62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5083" y="3772083"/>
            <a:ext cx="228234" cy="22823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367784" y="416052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eligibility filter</a:t>
            </a:r>
            <a:endParaRPr lang="en-US" sz="840" dirty="0"/>
          </a:p>
        </p:txBody>
      </p:sp>
      <p:sp>
        <p:nvSpPr>
          <p:cNvPr id="28" name="Shape 20"/>
          <p:cNvSpPr/>
          <p:nvPr/>
        </p:nvSpPr>
        <p:spPr>
          <a:xfrm>
            <a:off x="6242304" y="36667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/home/claude/deck2/assets/sparkles_0F62F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643" y="3772083"/>
            <a:ext cx="228234" cy="22823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800344" y="416052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Granite LLM matching &amp; explanations</a:t>
            </a:r>
            <a:endParaRPr lang="en-US" sz="840" dirty="0"/>
          </a:p>
        </p:txBody>
      </p:sp>
      <p:pic>
        <p:nvPicPr>
          <p:cNvPr id="31" name="Image 7" descr="/home/claude/deck2/assets/arrowright_0F62F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977640" y="4764024"/>
            <a:ext cx="182880" cy="18288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22960" y="5001768"/>
            <a:ext cx="6492240" cy="1207008"/>
          </a:xfrm>
          <a:prstGeom prst="roundRect">
            <a:avLst>
              <a:gd name="adj" fmla="val 5303"/>
            </a:avLst>
          </a:prstGeom>
          <a:solidFill>
            <a:srgbClr val="EEF2FC"/>
          </a:solidFill>
          <a:ln/>
        </p:spPr>
      </p:sp>
      <p:sp>
        <p:nvSpPr>
          <p:cNvPr id="33" name="Shape 23"/>
          <p:cNvSpPr/>
          <p:nvPr/>
        </p:nvSpPr>
        <p:spPr>
          <a:xfrm>
            <a:off x="822960" y="5001768"/>
            <a:ext cx="1828800" cy="1207008"/>
          </a:xfrm>
          <a:prstGeom prst="roundRect">
            <a:avLst>
              <a:gd name="adj" fmla="val 5303"/>
            </a:avLst>
          </a:prstGeom>
          <a:solidFill>
            <a:srgbClr val="3E5FCB"/>
          </a:solidFill>
          <a:ln/>
        </p:spPr>
      </p:sp>
      <p:sp>
        <p:nvSpPr>
          <p:cNvPr id="34" name="Text 24"/>
          <p:cNvSpPr/>
          <p:nvPr/>
        </p:nvSpPr>
        <p:spPr>
          <a:xfrm>
            <a:off x="960120" y="5001768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3377184" y="51297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8" descr="/home/claude/deck2/assets/database_0F62F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2523" y="5235123"/>
            <a:ext cx="228234" cy="22823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935224" y="562356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internship profile DB</a:t>
            </a:r>
            <a:endParaRPr lang="en-US" sz="840" dirty="0"/>
          </a:p>
        </p:txBody>
      </p:sp>
      <p:sp>
        <p:nvSpPr>
          <p:cNvPr id="38" name="Shape 27"/>
          <p:cNvSpPr/>
          <p:nvPr/>
        </p:nvSpPr>
        <p:spPr>
          <a:xfrm>
            <a:off x="4809744" y="51297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9" descr="/home/claude/deck2/assets/cloud_0F62F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5083" y="5235123"/>
            <a:ext cx="228234" cy="22823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4367784" y="562356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PMIS portal integration</a:t>
            </a:r>
            <a:endParaRPr lang="en-US" sz="840" dirty="0"/>
          </a:p>
        </p:txBody>
      </p:sp>
      <p:sp>
        <p:nvSpPr>
          <p:cNvPr id="41" name="Shape 29"/>
          <p:cNvSpPr/>
          <p:nvPr/>
        </p:nvSpPr>
        <p:spPr>
          <a:xfrm>
            <a:off x="6242304" y="512978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10" descr="/home/claude/deck2/assets/shield_0F62F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7643" y="5235123"/>
            <a:ext cx="228234" cy="22823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800344" y="5623560"/>
            <a:ext cx="1322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4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profile storage</a:t>
            </a:r>
            <a:endParaRPr lang="en-US" sz="840" dirty="0"/>
          </a:p>
        </p:txBody>
      </p:sp>
      <p:sp>
        <p:nvSpPr>
          <p:cNvPr id="44" name="Shape 31"/>
          <p:cNvSpPr/>
          <p:nvPr/>
        </p:nvSpPr>
        <p:spPr>
          <a:xfrm>
            <a:off x="7818120" y="1508760"/>
            <a:ext cx="3822192" cy="4709160"/>
          </a:xfrm>
          <a:prstGeom prst="roundRect">
            <a:avLst>
              <a:gd name="adj" fmla="val 2392"/>
            </a:avLst>
          </a:prstGeom>
          <a:solidFill>
            <a:srgbClr val="1E2761"/>
          </a:solidFill>
          <a:ln/>
        </p:spPr>
      </p:sp>
      <p:sp>
        <p:nvSpPr>
          <p:cNvPr id="45" name="Text 32"/>
          <p:cNvSpPr/>
          <p:nvPr/>
        </p:nvSpPr>
        <p:spPr>
          <a:xfrm>
            <a:off x="8092440" y="1709928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46" name="Text 33"/>
          <p:cNvSpPr/>
          <p:nvPr/>
        </p:nvSpPr>
        <p:spPr>
          <a:xfrm>
            <a:off x="8092440" y="213055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47" name="Text 34"/>
          <p:cNvSpPr/>
          <p:nvPr/>
        </p:nvSpPr>
        <p:spPr>
          <a:xfrm>
            <a:off x="8092440" y="2350008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HTML5 · CSS · JavaScript, deployed on Vercel</a:t>
            </a:r>
            <a:endParaRPr lang="en-US" sz="1000" dirty="0"/>
          </a:p>
        </p:txBody>
      </p:sp>
      <p:sp>
        <p:nvSpPr>
          <p:cNvPr id="48" name="Text 35"/>
          <p:cNvSpPr/>
          <p:nvPr/>
        </p:nvSpPr>
        <p:spPr>
          <a:xfrm>
            <a:off x="8092440" y="2825496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8092440" y="304495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REST APIs</a:t>
            </a:r>
            <a:endParaRPr lang="en-US" sz="1000" dirty="0"/>
          </a:p>
        </p:txBody>
      </p:sp>
      <p:sp>
        <p:nvSpPr>
          <p:cNvPr id="50" name="Text 37"/>
          <p:cNvSpPr/>
          <p:nvPr/>
        </p:nvSpPr>
        <p:spPr>
          <a:xfrm>
            <a:off x="8092440" y="3520440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50" dirty="0"/>
          </a:p>
        </p:txBody>
      </p:sp>
      <p:sp>
        <p:nvSpPr>
          <p:cNvPr id="51" name="Text 38"/>
          <p:cNvSpPr/>
          <p:nvPr/>
        </p:nvSpPr>
        <p:spPr>
          <a:xfrm>
            <a:off x="8092440" y="3739896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· Granite LLM for matching &amp; explanations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8092440" y="4215384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53" name="Text 40"/>
          <p:cNvSpPr/>
          <p:nvPr/>
        </p:nvSpPr>
        <p:spPr>
          <a:xfrm>
            <a:off x="8092440" y="443484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APIs for regional-language support</a:t>
            </a:r>
            <a:endParaRPr lang="en-US" sz="1000" dirty="0"/>
          </a:p>
        </p:txBody>
      </p:sp>
      <p:sp>
        <p:nvSpPr>
          <p:cNvPr id="54" name="Text 41"/>
          <p:cNvSpPr/>
          <p:nvPr/>
        </p:nvSpPr>
        <p:spPr>
          <a:xfrm>
            <a:off x="8092440" y="4910328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5" name="Text 42"/>
          <p:cNvSpPr/>
          <p:nvPr/>
        </p:nvSpPr>
        <p:spPr>
          <a:xfrm>
            <a:off x="8092440" y="512978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candidate &amp; internship data</a:t>
            </a:r>
            <a:endParaRPr lang="en-US" sz="1000" dirty="0"/>
          </a:p>
        </p:txBody>
      </p:sp>
      <p:sp>
        <p:nvSpPr>
          <p:cNvPr id="56" name="Text 43"/>
          <p:cNvSpPr/>
          <p:nvPr/>
        </p:nvSpPr>
        <p:spPr>
          <a:xfrm>
            <a:off x="8092440" y="5605272"/>
            <a:ext cx="3273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57" name="Text 44"/>
          <p:cNvSpPr/>
          <p:nvPr/>
        </p:nvSpPr>
        <p:spPr>
          <a:xfrm>
            <a:off x="8092440" y="5824728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containerized hosting</a:t>
            </a:r>
            <a:endParaRPr lang="en-US" sz="1000" dirty="0"/>
          </a:p>
        </p:txBody>
      </p:sp>
      <p:sp>
        <p:nvSpPr>
          <p:cNvPr id="58" name="Text 45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matches: not just a score, a reason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standout feature: every recommendation ships with a short, plain-language explanation — generated by watsonx.ai Granite — so candidates with no internship experience understand exactly why a match was suggested.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825496"/>
            <a:ext cx="493776" cy="49377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deck2/assets/clipboard_0F6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38" y="2944002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69748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skills + interests captured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3593592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3721608"/>
            <a:ext cx="493776" cy="49377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1" name="Image 1" descr="/home/claude/deck2/assets/sparkles_0F6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38" y="384011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593592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LLM compares profile to internship descriptions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4489704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" y="4617720"/>
            <a:ext cx="493776" cy="49377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5" name="Image 2" descr="/home/claude/deck2/assets/comment_0F62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" y="4736226"/>
            <a:ext cx="256764" cy="256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489704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 generated in the candidate's language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548640" y="5385816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" y="5513832"/>
            <a:ext cx="493776" cy="493776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3" descr="/home/claude/deck2/assets/cards_0F62F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8" y="5632338"/>
            <a:ext cx="256764" cy="2567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38581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8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directly on the match card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8503920" y="1874520"/>
            <a:ext cx="2834640" cy="4617720"/>
          </a:xfrm>
          <a:prstGeom prst="roundRect">
            <a:avLst>
              <a:gd name="adj" fmla="val 7097"/>
            </a:avLst>
          </a:prstGeom>
          <a:solidFill>
            <a:srgbClr val="1B2333"/>
          </a:solidFill>
          <a:ln/>
        </p:spPr>
      </p:sp>
      <p:sp>
        <p:nvSpPr>
          <p:cNvPr id="22" name="Shape 16"/>
          <p:cNvSpPr/>
          <p:nvPr/>
        </p:nvSpPr>
        <p:spPr>
          <a:xfrm>
            <a:off x="8586216" y="2075688"/>
            <a:ext cx="2670048" cy="421538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9646920" y="1956816"/>
            <a:ext cx="548640" cy="91440"/>
          </a:xfrm>
          <a:prstGeom prst="roundRect">
            <a:avLst>
              <a:gd name="adj" fmla="val 50000"/>
            </a:avLst>
          </a:prstGeom>
          <a:solidFill>
            <a:srgbClr val="1B2333"/>
          </a:solidFill>
          <a:ln/>
        </p:spPr>
      </p:sp>
      <p:sp>
        <p:nvSpPr>
          <p:cNvPr id="24" name="Shape 18"/>
          <p:cNvSpPr/>
          <p:nvPr/>
        </p:nvSpPr>
        <p:spPr>
          <a:xfrm>
            <a:off x="8586216" y="2075688"/>
            <a:ext cx="26700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8695944" y="207568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 match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723376" y="2670048"/>
            <a:ext cx="2395728" cy="777240"/>
          </a:xfrm>
          <a:prstGeom prst="roundRect">
            <a:avLst>
              <a:gd name="adj" fmla="val 9412"/>
            </a:avLst>
          </a:prstGeom>
          <a:solidFill>
            <a:srgbClr val="EEF2FC"/>
          </a:solidFill>
          <a:ln/>
        </p:spPr>
      </p:sp>
      <p:sp>
        <p:nvSpPr>
          <p:cNvPr id="27" name="Shape 21"/>
          <p:cNvSpPr/>
          <p:nvPr/>
        </p:nvSpPr>
        <p:spPr>
          <a:xfrm>
            <a:off x="8833104" y="28163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/home/claude/deck2/assets/briefcase_0F62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276" y="2908524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99448" y="2761488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Intern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299448" y="3035808"/>
            <a:ext cx="1755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A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match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8723376" y="3557016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EAF0FF"/>
          </a:solidFill>
          <a:ln w="12700">
            <a:solidFill>
              <a:srgbClr val="0F62FE"/>
            </a:solidFill>
            <a:prstDash val="solid"/>
          </a:ln>
        </p:spPr>
      </p:sp>
      <p:pic>
        <p:nvPicPr>
          <p:cNvPr id="32" name="Image 5" descr="/home/claude/deck2/assets/sparkles_0F62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48" y="36758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08008" y="367588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match?</a:t>
            </a:r>
            <a:endParaRPr lang="en-US" sz="860" dirty="0"/>
          </a:p>
        </p:txBody>
      </p:sp>
      <p:sp>
        <p:nvSpPr>
          <p:cNvPr id="34" name="Text 26"/>
          <p:cNvSpPr/>
          <p:nvPr/>
        </p:nvSpPr>
        <p:spPr>
          <a:xfrm>
            <a:off x="8842248" y="3995928"/>
            <a:ext cx="21579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coursework in content writing and your interest in marketing align closely with this role's skill needs — and it's based in your preferred city.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8723376" y="5797296"/>
            <a:ext cx="2395728" cy="411480"/>
          </a:xfrm>
          <a:prstGeom prst="roundRect">
            <a:avLst>
              <a:gd name="adj" fmla="val 17778"/>
            </a:avLst>
          </a:prstGeom>
          <a:solidFill>
            <a:srgbClr val="0F62FE"/>
          </a:solidFill>
          <a:ln/>
        </p:spPr>
      </p:sp>
      <p:sp>
        <p:nvSpPr>
          <p:cNvPr id="36" name="Text 28"/>
          <p:cNvSpPr/>
          <p:nvPr/>
        </p:nvSpPr>
        <p:spPr>
          <a:xfrm>
            <a:off x="8723376" y="5797296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8503920" y="6629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flow — AI-generated explanation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F62FE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TECHNOLOGIES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specifically used watsonx.ai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017520" cy="502920"/>
          </a:xfrm>
          <a:prstGeom prst="roundRect">
            <a:avLst>
              <a:gd name="adj" fmla="val 16364"/>
            </a:avLst>
          </a:prstGeom>
          <a:solidFill>
            <a:srgbClr val="263B7A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</a:t>
            </a:r>
            <a:pPr algn="ctr" indent="0" marL="0">
              <a:buNone/>
            </a:pPr>
            <a:r>
              <a:rPr lang="en-US" sz="1200" b="1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pPr algn="ctr" indent="0" marL="0">
              <a:buNone/>
            </a:pPr>
            <a:r>
              <a:rPr lang="en-US" sz="12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Granite LLM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2285E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377440"/>
            <a:ext cx="512064" cy="512064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9" name="Image 0" descr="/home/claude/deck2/assets/sparkl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2500335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skill matching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017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embeddings compare a candidate's free-text skills &amp; interests against internship descriptions for meaning-based (not just keyword) matching.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21488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2285E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2377440"/>
            <a:ext cx="512064" cy="512064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14" name="Image 1" descr="/home/claude/deck2/assets/comme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95" y="2500335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23500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explanations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00800" y="3017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recommendation, Granite generates a short, candidate-friendly "why this fits you" explanation in place of a raw match score.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43891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2285E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617720"/>
            <a:ext cx="512064" cy="512064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19" name="Image 2" descr="/home/claude/deck2/assets/langu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474061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59028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Regional-language generation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777240" y="52578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and prompts are generated directly in the candidate's preferred language, reducing reliance on English literacy.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72200" y="43891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2285E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0" y="4617720"/>
            <a:ext cx="512064" cy="512064"/>
          </a:xfrm>
          <a:prstGeom prst="ellipse">
            <a:avLst/>
          </a:prstGeom>
          <a:solidFill>
            <a:srgbClr val="0F62FE"/>
          </a:solidFill>
          <a:ln/>
        </p:spPr>
      </p:sp>
      <p:pic>
        <p:nvPicPr>
          <p:cNvPr id="24" name="Image 3" descr="/home/claude/deck2/assets/filt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4740615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459028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 profile normalization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400800" y="52578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 interprets loosely-worded skill and interest inputs from low-digital-literacy users and maps them to a structured taxonomy the matching engine can use.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haven't run a live pilot yet, so the figures below are the targets we're building and evaluating against — not measured results.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deck2/assets/bullseye_0F6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5091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219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matches per candidate — target, replacing hundreds of listings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16552" y="20574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2377440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2" name="Image 1" descr="/home/claude/deck2/assets/clock_0F6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50911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22219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45152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scoring time per candidate on standard hosting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284464" y="20574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13064" y="2377440"/>
            <a:ext cx="548640" cy="5486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7" name="Image 2" descr="/home/claude/deck2/assets/mappin_0F62F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25091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22219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goal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513064" y="2834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adoption across rural, tribal &amp; remote-college candidates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347704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1150" dirty="0"/>
          </a:p>
        </p:txBody>
      </p:sp>
      <p:pic>
        <p:nvPicPr>
          <p:cNvPr id="22" name="Image 3" descr="/home/claude/deck2/asset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16152" y="4407408"/>
            <a:ext cx="4988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misaligned applications, so candidates and internship providers both spend less time on poor-fit matches</a:t>
            </a:r>
            <a:endParaRPr lang="en-US" sz="980" dirty="0"/>
          </a:p>
        </p:txBody>
      </p:sp>
      <p:pic>
        <p:nvPicPr>
          <p:cNvPr id="24" name="Image 4" descr="/home/claude/deck2/asset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448056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90004" y="4407408"/>
            <a:ext cx="4988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internship uptake in underserved rural, tribal, and remote-college communities</a:t>
            </a:r>
            <a:endParaRPr lang="en-US" sz="980" dirty="0"/>
          </a:p>
        </p:txBody>
      </p:sp>
      <p:pic>
        <p:nvPicPr>
          <p:cNvPr id="26" name="Image 5" descr="/home/claude/deck2/asset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4924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16152" y="5276088"/>
            <a:ext cx="4988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candidate confidence going into an application, thanks to explainable, plain-language reasoning</a:t>
            </a:r>
            <a:endParaRPr lang="en-US" sz="980" dirty="0"/>
          </a:p>
        </p:txBody>
      </p:sp>
      <p:pic>
        <p:nvPicPr>
          <p:cNvPr id="28" name="Image 6" descr="/home/claude/deck2/assets/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532" y="534924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90004" y="5276088"/>
            <a:ext cx="49880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layer that scales as more internships are added to the PMIS portal, without re-architecting</a:t>
            </a:r>
            <a:endParaRPr lang="en-US" sz="980" dirty="0"/>
          </a:p>
        </p:txBody>
      </p:sp>
      <p:sp>
        <p:nvSpPr>
          <p:cNvPr id="30" name="Text 21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BobTheBuilders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CareerSetu.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651760"/>
            <a:ext cx="914400" cy="914400"/>
          </a:xfrm>
          <a:prstGeom prst="ellipse">
            <a:avLst/>
          </a:prstGeom>
          <a:solidFill>
            <a:srgbClr val="2A3A78"/>
          </a:solidFill>
          <a:ln w="22225">
            <a:solidFill>
              <a:srgbClr val="3E5FCB"/>
            </a:solidFill>
            <a:prstDash val="solid"/>
          </a:ln>
        </p:spPr>
      </p:sp>
      <p:pic>
        <p:nvPicPr>
          <p:cNvPr id="9" name="Image 0" descr="/home/claude/deck2/asset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85292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Brijesh Patel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0120" y="449884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498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16352" y="5239512"/>
            <a:ext cx="146304" cy="146304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14" name="Shape 11"/>
          <p:cNvSpPr/>
          <p:nvPr/>
        </p:nvSpPr>
        <p:spPr>
          <a:xfrm>
            <a:off x="3383280" y="22860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4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22860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3383280" y="3246120"/>
            <a:ext cx="25603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2651760"/>
            <a:ext cx="914400" cy="914400"/>
          </a:xfrm>
          <a:prstGeom prst="ellipse">
            <a:avLst/>
          </a:prstGeom>
          <a:solidFill>
            <a:srgbClr val="2A3A78"/>
          </a:solidFill>
          <a:ln w="22225">
            <a:solidFill>
              <a:srgbClr val="0F62FE"/>
            </a:solidFill>
            <a:prstDash val="solid"/>
          </a:ln>
        </p:spPr>
      </p:sp>
      <p:pic>
        <p:nvPicPr>
          <p:cNvPr id="18" name="Image 1" descr="/home/claude/deck2/asset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852928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47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Bhavya Patel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3794760" y="449884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21" name="Text 17"/>
          <p:cNvSpPr/>
          <p:nvPr/>
        </p:nvSpPr>
        <p:spPr>
          <a:xfrm>
            <a:off x="3794760" y="4498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50992" y="5239512"/>
            <a:ext cx="146304" cy="146304"/>
          </a:xfrm>
          <a:prstGeom prst="ellipse">
            <a:avLst/>
          </a:prstGeom>
          <a:solidFill>
            <a:srgbClr val="0F62FE"/>
          </a:solidFill>
          <a:ln/>
        </p:spPr>
      </p:sp>
      <p:sp>
        <p:nvSpPr>
          <p:cNvPr id="23" name="Shape 19"/>
          <p:cNvSpPr/>
          <p:nvPr/>
        </p:nvSpPr>
        <p:spPr>
          <a:xfrm>
            <a:off x="6217920" y="22860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4A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17920" y="22860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6217920" y="3246120"/>
            <a:ext cx="25603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2"/>
          <p:cNvSpPr/>
          <p:nvPr/>
        </p:nvSpPr>
        <p:spPr>
          <a:xfrm>
            <a:off x="7040880" y="2651760"/>
            <a:ext cx="914400" cy="914400"/>
          </a:xfrm>
          <a:prstGeom prst="ellipse">
            <a:avLst/>
          </a:prstGeom>
          <a:solidFill>
            <a:srgbClr val="2A3A78"/>
          </a:solidFill>
          <a:ln w="22225">
            <a:solidFill>
              <a:srgbClr val="24A148"/>
            </a:solidFill>
            <a:prstDash val="solid"/>
          </a:ln>
        </p:spPr>
      </p:sp>
      <p:pic>
        <p:nvPicPr>
          <p:cNvPr id="27" name="Image 2" descr="/home/claude/deck2/asset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85292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936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 Dungrani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629400" y="449884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30" name="Text 25"/>
          <p:cNvSpPr/>
          <p:nvPr/>
        </p:nvSpPr>
        <p:spPr>
          <a:xfrm>
            <a:off x="6629400" y="4498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A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485632" y="5239512"/>
            <a:ext cx="146304" cy="146304"/>
          </a:xfrm>
          <a:prstGeom prst="ellipse">
            <a:avLst/>
          </a:prstGeom>
          <a:solidFill>
            <a:srgbClr val="24A148"/>
          </a:solidFill>
          <a:ln/>
        </p:spPr>
      </p:sp>
      <p:sp>
        <p:nvSpPr>
          <p:cNvPr id="32" name="Shape 27"/>
          <p:cNvSpPr/>
          <p:nvPr/>
        </p:nvSpPr>
        <p:spPr>
          <a:xfrm>
            <a:off x="9052560" y="228600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4F5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4A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052560" y="228600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34" name="Shape 29"/>
          <p:cNvSpPr/>
          <p:nvPr/>
        </p:nvSpPr>
        <p:spPr>
          <a:xfrm>
            <a:off x="9052560" y="3246120"/>
            <a:ext cx="25603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Shape 30"/>
          <p:cNvSpPr/>
          <p:nvPr/>
        </p:nvSpPr>
        <p:spPr>
          <a:xfrm>
            <a:off x="9875520" y="2651760"/>
            <a:ext cx="914400" cy="914400"/>
          </a:xfrm>
          <a:prstGeom prst="ellipse">
            <a:avLst/>
          </a:prstGeom>
          <a:solidFill>
            <a:srgbClr val="2A3A78"/>
          </a:solidFill>
          <a:ln w="22225">
            <a:solidFill>
              <a:srgbClr val="3E5FCB"/>
            </a:solidFill>
            <a:prstDash val="solid"/>
          </a:ln>
        </p:spPr>
      </p:sp>
      <p:pic>
        <p:nvPicPr>
          <p:cNvPr id="36" name="Image 3" descr="/home/claude/deck2/asset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2852928"/>
            <a:ext cx="512064" cy="51206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14400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Divya Paradiya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9464040" y="449884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39" name="Text 33"/>
          <p:cNvSpPr/>
          <p:nvPr/>
        </p:nvSpPr>
        <p:spPr>
          <a:xfrm>
            <a:off x="9464040" y="4498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5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11320272" y="5239512"/>
            <a:ext cx="146304" cy="146304"/>
          </a:xfrm>
          <a:prstGeom prst="ellipse">
            <a:avLst/>
          </a:prstGeom>
          <a:solidFill>
            <a:srgbClr val="3E5FCB"/>
          </a:solidFill>
          <a:ln/>
        </p:spPr>
      </p:sp>
      <p:sp>
        <p:nvSpPr>
          <p:cNvPr id="41" name="Text 35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2026-09-15T15:59:59Z</dcterms:created>
  <dcterms:modified xsi:type="dcterms:W3CDTF">2026-09-15T15:59:59Z</dcterms:modified>
</cp:coreProperties>
</file>